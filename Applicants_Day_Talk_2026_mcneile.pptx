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836264-7D11-F0BF-318A-19242E11487F}" v="49" dt="2026-02-27T17:19:16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18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McNeile" userId="S::craig.mcneile@plymouth.ac.uk::9a357dee-ff52-4d6d-8acd-ffdb43770711" providerId="AD" clId="Web-{28836264-7D11-F0BF-318A-19242E11487F}"/>
    <pc:docChg chg="modSld">
      <pc:chgData name="Craig McNeile" userId="S::craig.mcneile@plymouth.ac.uk::9a357dee-ff52-4d6d-8acd-ffdb43770711" providerId="AD" clId="Web-{28836264-7D11-F0BF-318A-19242E11487F}" dt="2026-02-27T17:19:16.916" v="47" actId="20577"/>
      <pc:docMkLst>
        <pc:docMk/>
      </pc:docMkLst>
      <pc:sldChg chg="modSp">
        <pc:chgData name="Craig McNeile" userId="S::craig.mcneile@plymouth.ac.uk::9a357dee-ff52-4d6d-8acd-ffdb43770711" providerId="AD" clId="Web-{28836264-7D11-F0BF-318A-19242E11487F}" dt="2026-02-27T17:13:54.128" v="19" actId="20577"/>
        <pc:sldMkLst>
          <pc:docMk/>
          <pc:sldMk cId="2283186002" sldId="256"/>
        </pc:sldMkLst>
        <pc:spChg chg="mod">
          <ac:chgData name="Craig McNeile" userId="S::craig.mcneile@plymouth.ac.uk::9a357dee-ff52-4d6d-8acd-ffdb43770711" providerId="AD" clId="Web-{28836264-7D11-F0BF-318A-19242E11487F}" dt="2026-02-27T17:13:54.128" v="19" actId="20577"/>
          <ac:spMkLst>
            <pc:docMk/>
            <pc:sldMk cId="2283186002" sldId="256"/>
            <ac:spMk id="2" creationId="{00000000-0000-0000-0000-000000000000}"/>
          </ac:spMkLst>
        </pc:spChg>
      </pc:sldChg>
      <pc:sldChg chg="modSp">
        <pc:chgData name="Craig McNeile" userId="S::craig.mcneile@plymouth.ac.uk::9a357dee-ff52-4d6d-8acd-ffdb43770711" providerId="AD" clId="Web-{28836264-7D11-F0BF-318A-19242E11487F}" dt="2026-02-27T17:13:28.705" v="7" actId="20577"/>
        <pc:sldMkLst>
          <pc:docMk/>
          <pc:sldMk cId="3076152147" sldId="257"/>
        </pc:sldMkLst>
        <pc:spChg chg="mod">
          <ac:chgData name="Craig McNeile" userId="S::craig.mcneile@plymouth.ac.uk::9a357dee-ff52-4d6d-8acd-ffdb43770711" providerId="AD" clId="Web-{28836264-7D11-F0BF-318A-19242E11487F}" dt="2026-02-27T17:13:28.705" v="7" actId="20577"/>
          <ac:spMkLst>
            <pc:docMk/>
            <pc:sldMk cId="3076152147" sldId="257"/>
            <ac:spMk id="3" creationId="{00000000-0000-0000-0000-000000000000}"/>
          </ac:spMkLst>
        </pc:spChg>
      </pc:sldChg>
      <pc:sldChg chg="modSp">
        <pc:chgData name="Craig McNeile" userId="S::craig.mcneile@plymouth.ac.uk::9a357dee-ff52-4d6d-8acd-ffdb43770711" providerId="AD" clId="Web-{28836264-7D11-F0BF-318A-19242E11487F}" dt="2026-02-27T17:19:16.916" v="47" actId="20577"/>
        <pc:sldMkLst>
          <pc:docMk/>
          <pc:sldMk cId="909405279" sldId="258"/>
        </pc:sldMkLst>
        <pc:spChg chg="mod">
          <ac:chgData name="Craig McNeile" userId="S::craig.mcneile@plymouth.ac.uk::9a357dee-ff52-4d6d-8acd-ffdb43770711" providerId="AD" clId="Web-{28836264-7D11-F0BF-318A-19242E11487F}" dt="2026-02-27T17:19:16.916" v="47" actId="20577"/>
          <ac:spMkLst>
            <pc:docMk/>
            <pc:sldMk cId="909405279" sldId="258"/>
            <ac:spMk id="3" creationId="{00000000-0000-0000-0000-000000000000}"/>
          </ac:spMkLst>
        </pc:spChg>
      </pc:sldChg>
      <pc:sldChg chg="modSp">
        <pc:chgData name="Craig McNeile" userId="S::craig.mcneile@plymouth.ac.uk::9a357dee-ff52-4d6d-8acd-ffdb43770711" providerId="AD" clId="Web-{28836264-7D11-F0BF-318A-19242E11487F}" dt="2026-02-27T17:17:45.664" v="36" actId="20577"/>
        <pc:sldMkLst>
          <pc:docMk/>
          <pc:sldMk cId="533083755" sldId="261"/>
        </pc:sldMkLst>
        <pc:spChg chg="mod">
          <ac:chgData name="Craig McNeile" userId="S::craig.mcneile@plymouth.ac.uk::9a357dee-ff52-4d6d-8acd-ffdb43770711" providerId="AD" clId="Web-{28836264-7D11-F0BF-318A-19242E11487F}" dt="2026-02-27T17:17:45.664" v="36" actId="20577"/>
          <ac:spMkLst>
            <pc:docMk/>
            <pc:sldMk cId="533083755" sldId="261"/>
            <ac:spMk id="3" creationId="{00000000-0000-0000-0000-000000000000}"/>
          </ac:spMkLst>
        </pc:spChg>
      </pc:sldChg>
      <pc:sldChg chg="modSp">
        <pc:chgData name="Craig McNeile" userId="S::craig.mcneile@plymouth.ac.uk::9a357dee-ff52-4d6d-8acd-ffdb43770711" providerId="AD" clId="Web-{28836264-7D11-F0BF-318A-19242E11487F}" dt="2026-02-27T17:16:15.600" v="28" actId="20577"/>
        <pc:sldMkLst>
          <pc:docMk/>
          <pc:sldMk cId="3107956630" sldId="263"/>
        </pc:sldMkLst>
        <pc:spChg chg="mod">
          <ac:chgData name="Craig McNeile" userId="S::craig.mcneile@plymouth.ac.uk::9a357dee-ff52-4d6d-8acd-ffdb43770711" providerId="AD" clId="Web-{28836264-7D11-F0BF-318A-19242E11487F}" dt="2026-02-27T17:16:15.600" v="28" actId="20577"/>
          <ac:spMkLst>
            <pc:docMk/>
            <pc:sldMk cId="3107956630" sldId="263"/>
            <ac:spMk id="3" creationId="{00000000-0000-0000-0000-000000000000}"/>
          </ac:spMkLst>
        </pc:spChg>
      </pc:sldChg>
    </pc:docChg>
  </pc:docChgLst>
  <pc:docChgLst>
    <pc:chgData clId="Web-{28836264-7D11-F0BF-318A-19242E11487F}"/>
    <pc:docChg chg="modSld">
      <pc:chgData name="" userId="" providerId="" clId="Web-{28836264-7D11-F0BF-318A-19242E11487F}" dt="2026-02-27T17:12:32.282" v="0" actId="20577"/>
      <pc:docMkLst>
        <pc:docMk/>
      </pc:docMkLst>
      <pc:sldChg chg="modSp">
        <pc:chgData name="" userId="" providerId="" clId="Web-{28836264-7D11-F0BF-318A-19242E11487F}" dt="2026-02-27T17:12:32.282" v="0" actId="20577"/>
        <pc:sldMkLst>
          <pc:docMk/>
          <pc:sldMk cId="2283186002" sldId="256"/>
        </pc:sldMkLst>
        <pc:spChg chg="mod">
          <ac:chgData name="" userId="" providerId="" clId="Web-{28836264-7D11-F0BF-318A-19242E11487F}" dt="2026-02-27T17:12:32.282" v="0" actId="20577"/>
          <ac:spMkLst>
            <pc:docMk/>
            <pc:sldMk cId="2283186002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13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18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34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45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71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365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341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44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13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082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704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221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109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441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206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813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49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17E9DC74-B1C2-4F4B-9457-7A65188D0FD3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A2DB210F-822A-43CB-BA79-0E9089C0D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641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linkedin.com/company/instituteofstudentemployer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Employability</a:t>
            </a:r>
            <a:br>
              <a:rPr lang="en-GB" dirty="0"/>
            </a:br>
            <a:r>
              <a:rPr lang="en-GB" dirty="0"/>
              <a:t>in our maths and data </a:t>
            </a:r>
            <a:r>
              <a:rPr lang="en-GB"/>
              <a:t>science</a:t>
            </a:r>
            <a:r>
              <a:rPr lang="en-GB" dirty="0"/>
              <a:t> </a:t>
            </a:r>
            <a:r>
              <a:rPr lang="en-GB"/>
              <a:t>programmes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Dr Craig McNeile</a:t>
            </a:r>
          </a:p>
          <a:p>
            <a:endParaRPr lang="en-GB" dirty="0"/>
          </a:p>
          <a:p>
            <a:r>
              <a:rPr lang="en-GB"/>
              <a:t>Offer holder day (2026)</a:t>
            </a:r>
          </a:p>
        </p:txBody>
      </p:sp>
    </p:spTree>
    <p:extLst>
      <p:ext uri="{BB962C8B-B14F-4D97-AF65-F5344CB8AC3E}">
        <p14:creationId xmlns:p14="http://schemas.microsoft.com/office/powerpoint/2010/main" val="2283186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I am…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6470273" cy="379486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GB" dirty="0"/>
              <a:t>Lecturer in Theoretical Physics at the University of Plymouth, since 2013;</a:t>
            </a:r>
          </a:p>
          <a:p>
            <a:r>
              <a:rPr lang="en-GB" dirty="0"/>
              <a:t>Employability and placements lead for maths students;</a:t>
            </a:r>
          </a:p>
          <a:p>
            <a:r>
              <a:rPr lang="en-GB" dirty="0"/>
              <a:t>PhD in Theoretical Physics, Edinburgh University (1992);</a:t>
            </a:r>
          </a:p>
          <a:p>
            <a:r>
              <a:rPr lang="en-GB" dirty="0"/>
              <a:t>Research interests:</a:t>
            </a:r>
          </a:p>
          <a:p>
            <a:pPr lvl="1" indent="-283210"/>
            <a:r>
              <a:rPr lang="en-GB" dirty="0"/>
              <a:t>Simulations of nuclear and particle physics,</a:t>
            </a:r>
          </a:p>
          <a:p>
            <a:pPr lvl="1" indent="-283210"/>
            <a:r>
              <a:rPr lang="en-GB" dirty="0"/>
              <a:t>High Performance Computing and Quantum Computing</a:t>
            </a:r>
          </a:p>
          <a:p>
            <a:pPr lvl="1" indent="-283210"/>
            <a:r>
              <a:rPr lang="en-GB" dirty="0"/>
              <a:t>Data Science</a:t>
            </a:r>
          </a:p>
          <a:p>
            <a:r>
              <a:rPr lang="en-GB" dirty="0"/>
              <a:t>Teaching:</a:t>
            </a:r>
          </a:p>
          <a:p>
            <a:pPr lvl="1" indent="-283210"/>
            <a:r>
              <a:rPr lang="en-GB"/>
              <a:t>Modules on Operational Research, linear algebra, and Quantum Computing </a:t>
            </a:r>
            <a:r>
              <a:rPr lang="en-GB" dirty="0"/>
              <a:t>for undergraduate maths students.</a:t>
            </a:r>
          </a:p>
          <a:p>
            <a:pPr lvl="1" indent="-283210"/>
            <a:r>
              <a:rPr lang="en-GB" dirty="0"/>
              <a:t>Software Development and Databases and project supervision for MSc Data Science students.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15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 employability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/>
              <a:t>Regular timetabled sessions on employability:</a:t>
            </a:r>
          </a:p>
          <a:p>
            <a:pPr lvl="1" indent="-283210"/>
            <a:r>
              <a:rPr lang="en-GB"/>
              <a:t>Career planning (Explore, prepare) </a:t>
            </a:r>
          </a:p>
          <a:p>
            <a:pPr lvl="1"/>
            <a:r>
              <a:rPr lang="en-GB" dirty="0"/>
              <a:t>Job searching</a:t>
            </a:r>
          </a:p>
          <a:p>
            <a:pPr lvl="1"/>
            <a:r>
              <a:rPr lang="en-GB" dirty="0"/>
              <a:t>Personal development</a:t>
            </a:r>
          </a:p>
          <a:p>
            <a:pPr lvl="1"/>
            <a:r>
              <a:rPr lang="en-GB" dirty="0"/>
              <a:t>CV writing/applying for jobs</a:t>
            </a:r>
          </a:p>
          <a:p>
            <a:pPr lvl="1"/>
            <a:r>
              <a:rPr lang="en-GB" dirty="0"/>
              <a:t>Speakers from industries</a:t>
            </a:r>
          </a:p>
          <a:p>
            <a:pPr lvl="1"/>
            <a:r>
              <a:rPr lang="en-GB" dirty="0"/>
              <a:t>Graduate speakers </a:t>
            </a:r>
          </a:p>
          <a:p>
            <a:pPr lvl="1"/>
            <a:r>
              <a:rPr lang="en-GB" dirty="0"/>
              <a:t>Placements preparation</a:t>
            </a:r>
          </a:p>
          <a:p>
            <a:r>
              <a:rPr lang="en-GB" dirty="0"/>
              <a:t>Designed and delivered by professional career advisors in cooperation with academic staff.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9405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One-off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786" y="2398765"/>
            <a:ext cx="7234589" cy="4052277"/>
          </a:xfrm>
        </p:spPr>
        <p:txBody>
          <a:bodyPr>
            <a:normAutofit/>
          </a:bodyPr>
          <a:lstStyle/>
          <a:p>
            <a:r>
              <a:rPr lang="en-GB" dirty="0"/>
              <a:t>Job fairs and career events</a:t>
            </a:r>
          </a:p>
          <a:p>
            <a:pPr lvl="1"/>
            <a:r>
              <a:rPr lang="en-GB" dirty="0"/>
              <a:t>General university-wide job fairs</a:t>
            </a:r>
          </a:p>
          <a:p>
            <a:pPr lvl="1"/>
            <a:r>
              <a:rPr lang="en-GB" dirty="0"/>
              <a:t>Intensive workshop in year 1: Enhance Your Future Programme</a:t>
            </a:r>
          </a:p>
          <a:p>
            <a:pPr lvl="1"/>
            <a:r>
              <a:rPr lang="en-GB" dirty="0"/>
              <a:t>Maths Careers Mini-Conference: </a:t>
            </a:r>
          </a:p>
          <a:p>
            <a:pPr marL="676656" lvl="2" indent="0">
              <a:buNone/>
            </a:pPr>
            <a:r>
              <a:rPr lang="en-GB" dirty="0"/>
              <a:t>talks and workshops</a:t>
            </a:r>
          </a:p>
          <a:p>
            <a:pPr lvl="2"/>
            <a:r>
              <a:rPr lang="en-GB" dirty="0"/>
              <a:t>Various sectors and different </a:t>
            </a:r>
          </a:p>
          <a:p>
            <a:pPr marL="1005840" lvl="3" indent="0">
              <a:buNone/>
            </a:pPr>
            <a:r>
              <a:rPr lang="en-GB" dirty="0"/>
              <a:t>types of careers.</a:t>
            </a:r>
          </a:p>
          <a:p>
            <a:pPr lvl="2"/>
            <a:r>
              <a:rPr lang="en-GB" dirty="0"/>
              <a:t>Met Office, Civil Service, GCHQ, ONS, </a:t>
            </a:r>
          </a:p>
          <a:p>
            <a:pPr marL="1005840" lvl="3" indent="0">
              <a:buNone/>
            </a:pPr>
            <a:r>
              <a:rPr lang="en-GB" dirty="0"/>
              <a:t>GlaxoSmithKline, Babcock, …</a:t>
            </a:r>
          </a:p>
          <a:p>
            <a:pPr lvl="2"/>
            <a:r>
              <a:rPr lang="en-GB" dirty="0"/>
              <a:t>Many speakers are our graduates</a:t>
            </a:r>
          </a:p>
          <a:p>
            <a:pPr lvl="2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075" y="4079630"/>
            <a:ext cx="3962422" cy="257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17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5104339" cy="410252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Year-long placement</a:t>
            </a:r>
          </a:p>
          <a:p>
            <a:pPr lvl="1"/>
            <a:r>
              <a:rPr lang="en-GB" dirty="0"/>
              <a:t>Academic tutor throughout the year</a:t>
            </a:r>
          </a:p>
          <a:p>
            <a:r>
              <a:rPr lang="en-GB" dirty="0"/>
              <a:t>Summer placement before the final year</a:t>
            </a:r>
          </a:p>
          <a:p>
            <a:pPr lvl="1"/>
            <a:r>
              <a:rPr lang="en-GB" dirty="0"/>
              <a:t>At least 20 days long</a:t>
            </a:r>
          </a:p>
          <a:p>
            <a:pPr lvl="1"/>
            <a:r>
              <a:rPr lang="en-GB" dirty="0"/>
              <a:t>Counts as one of the final year </a:t>
            </a:r>
          </a:p>
          <a:p>
            <a:pPr marL="402336" lvl="1" indent="0">
              <a:buNone/>
            </a:pPr>
            <a:r>
              <a:rPr lang="en-GB" dirty="0"/>
              <a:t>      modules</a:t>
            </a:r>
          </a:p>
          <a:p>
            <a:r>
              <a:rPr lang="en-GB" dirty="0"/>
              <a:t>Some of the past placements:</a:t>
            </a:r>
          </a:p>
          <a:p>
            <a:pPr lvl="1"/>
            <a:r>
              <a:rPr lang="en-GB" i="1" dirty="0"/>
              <a:t>National Air Traffic Services</a:t>
            </a:r>
          </a:p>
          <a:p>
            <a:pPr lvl="1"/>
            <a:r>
              <a:rPr lang="en-GB" i="1" dirty="0"/>
              <a:t>Office for National Statistics</a:t>
            </a:r>
          </a:p>
          <a:p>
            <a:pPr lvl="1"/>
            <a:r>
              <a:rPr lang="en-GB" i="1" dirty="0"/>
              <a:t>Home Office</a:t>
            </a:r>
          </a:p>
          <a:p>
            <a:pPr lvl="1"/>
            <a:r>
              <a:rPr lang="en-GB" i="1" dirty="0" err="1"/>
              <a:t>Mastercard</a:t>
            </a:r>
            <a:endParaRPr lang="en-GB" i="1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726" y="3949002"/>
            <a:ext cx="3782169" cy="264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3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Employability on our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199"/>
            <a:ext cx="6345260" cy="383378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dirty="0"/>
              <a:t>Cooperation with employers</a:t>
            </a:r>
          </a:p>
          <a:p>
            <a:r>
              <a:rPr lang="en-GB" dirty="0"/>
              <a:t>Stage 2 Operational Research module:</a:t>
            </a:r>
          </a:p>
          <a:p>
            <a:pPr lvl="1"/>
            <a:r>
              <a:rPr lang="en-GB" dirty="0"/>
              <a:t>Real-life problems</a:t>
            </a:r>
          </a:p>
          <a:p>
            <a:pPr lvl="1" indent="-283210"/>
            <a:r>
              <a:rPr lang="en-GB" dirty="0"/>
              <a:t>Software used in industries (</a:t>
            </a:r>
            <a:r>
              <a:rPr lang="en-GB" dirty="0" err="1"/>
              <a:t>eg.</a:t>
            </a:r>
            <a:r>
              <a:rPr lang="en-GB" dirty="0"/>
              <a:t> SIMUL8)</a:t>
            </a:r>
          </a:p>
          <a:p>
            <a:pPr lvl="1"/>
            <a:r>
              <a:rPr lang="en-GB" dirty="0"/>
              <a:t>Independence and initiative</a:t>
            </a:r>
          </a:p>
          <a:p>
            <a:pPr lvl="1"/>
            <a:r>
              <a:rPr lang="en-GB" dirty="0"/>
              <a:t>Cooperation with others</a:t>
            </a:r>
          </a:p>
          <a:p>
            <a:r>
              <a:rPr lang="en-GB" dirty="0"/>
              <a:t>Projects in the final year: </a:t>
            </a:r>
          </a:p>
          <a:p>
            <a:pPr lvl="1"/>
            <a:r>
              <a:rPr lang="en-GB" dirty="0"/>
              <a:t>individual or in groups</a:t>
            </a:r>
          </a:p>
          <a:p>
            <a:pPr lvl="1"/>
            <a:r>
              <a:rPr lang="en-GB" dirty="0"/>
              <a:t>real-life problems</a:t>
            </a:r>
          </a:p>
          <a:p>
            <a:pPr lvl="1"/>
            <a:r>
              <a:rPr lang="en-GB" dirty="0"/>
              <a:t>In cooperation with industries: Plymouth Community Homes, BT, Babcock, …</a:t>
            </a:r>
          </a:p>
          <a:p>
            <a:pPr lvl="1"/>
            <a:r>
              <a:rPr lang="en-GB" dirty="0"/>
              <a:t>Presentations, school poster day.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337" y="2391821"/>
            <a:ext cx="1759338" cy="13019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485" y="4238393"/>
            <a:ext cx="1850173" cy="18501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597" y="3740041"/>
            <a:ext cx="1654374" cy="76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8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441" y="3841898"/>
            <a:ext cx="4881335" cy="274981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School Placements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6167040" cy="4102520"/>
          </a:xfrm>
        </p:spPr>
        <p:txBody>
          <a:bodyPr>
            <a:normAutofit/>
          </a:bodyPr>
          <a:lstStyle/>
          <a:p>
            <a:r>
              <a:rPr lang="en-GB" dirty="0"/>
              <a:t>Available to all students</a:t>
            </a:r>
          </a:p>
          <a:p>
            <a:pPr lvl="1"/>
            <a:r>
              <a:rPr lang="en-GB" dirty="0"/>
              <a:t>Core for Mathematics with Education</a:t>
            </a:r>
          </a:p>
          <a:p>
            <a:pPr lvl="1"/>
            <a:r>
              <a:rPr lang="en-GB" dirty="0"/>
              <a:t>Optional for otherwise</a:t>
            </a:r>
          </a:p>
          <a:p>
            <a:r>
              <a:rPr lang="en-GB" dirty="0"/>
              <a:t>You get experience in a classroom</a:t>
            </a:r>
          </a:p>
          <a:p>
            <a:pPr lvl="1"/>
            <a:r>
              <a:rPr lang="en-GB" dirty="0"/>
              <a:t>Helps to decide if teaching is for you</a:t>
            </a:r>
          </a:p>
          <a:p>
            <a:pPr lvl="1"/>
            <a:r>
              <a:rPr lang="en-GB" dirty="0"/>
              <a:t>Communication skills </a:t>
            </a:r>
          </a:p>
          <a:p>
            <a:r>
              <a:rPr lang="en-GB" dirty="0"/>
              <a:t>Advantage when applying</a:t>
            </a:r>
          </a:p>
          <a:p>
            <a:pPr marL="0" indent="0">
              <a:buNone/>
            </a:pPr>
            <a:r>
              <a:rPr lang="en-GB" dirty="0"/>
              <a:t> for PGCE</a:t>
            </a:r>
            <a:endParaRPr lang="en-GB" i="1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6493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University’s Careers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187" y="2498928"/>
            <a:ext cx="4067194" cy="40186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/>
              <a:t>Careers Service</a:t>
            </a:r>
          </a:p>
          <a:p>
            <a:pPr lvl="1" indent="-283210"/>
            <a:r>
              <a:rPr lang="en-GB" dirty="0"/>
              <a:t>Professional careers consultants</a:t>
            </a:r>
          </a:p>
          <a:p>
            <a:pPr lvl="1" indent="-283210"/>
            <a:r>
              <a:rPr lang="en-GB" dirty="0"/>
              <a:t>One-to-one appointments:</a:t>
            </a:r>
          </a:p>
          <a:p>
            <a:pPr lvl="2"/>
            <a:r>
              <a:rPr lang="en-GB" dirty="0"/>
              <a:t>Advice</a:t>
            </a:r>
          </a:p>
          <a:p>
            <a:pPr lvl="2"/>
            <a:r>
              <a:rPr lang="en-GB" dirty="0"/>
              <a:t>Careers guidance</a:t>
            </a:r>
          </a:p>
          <a:p>
            <a:pPr lvl="2"/>
            <a:r>
              <a:rPr lang="en-GB" dirty="0"/>
              <a:t>Application coaching</a:t>
            </a:r>
          </a:p>
          <a:p>
            <a:pPr lvl="1" indent="-283210"/>
            <a:r>
              <a:rPr lang="en-GB" dirty="0"/>
              <a:t>Available even after graduation</a:t>
            </a:r>
          </a:p>
          <a:p>
            <a:pPr lvl="1" indent="-283210"/>
            <a:r>
              <a:rPr lang="en-GB" sz="1100" dirty="0">
                <a:solidFill>
                  <a:srgbClr val="404040"/>
                </a:solidFill>
                <a:ea typeface="+mn-lt"/>
                <a:cs typeface="+mn-lt"/>
              </a:rPr>
              <a:t>Finalists at the </a:t>
            </a:r>
            <a:r>
              <a:rPr lang="en-GB" sz="1100" dirty="0">
                <a:solidFill>
                  <a:srgbClr val="404040"/>
                </a:solidFill>
                <a:ea typeface="+mn-lt"/>
                <a:cs typeface="+mn-lt"/>
                <a:hlinkClick r:id="rId2"/>
              </a:rPr>
              <a:t>Institute of Student Employers</a:t>
            </a:r>
            <a:r>
              <a:rPr lang="en-GB" sz="1100" dirty="0">
                <a:solidFill>
                  <a:srgbClr val="404040"/>
                </a:solidFill>
                <a:ea typeface="+mn-lt"/>
                <a:cs typeface="+mn-lt"/>
              </a:rPr>
              <a:t> </a:t>
            </a:r>
            <a:r>
              <a:rPr lang="en-GB" sz="1100">
                <a:solidFill>
                  <a:srgbClr val="404040"/>
                </a:solidFill>
                <a:ea typeface="+mn-lt"/>
                <a:cs typeface="+mn-lt"/>
              </a:rPr>
              <a:t>Awards in 2025. </a:t>
            </a:r>
            <a:endParaRPr lang="en-GB">
              <a:solidFill>
                <a:srgbClr val="404040"/>
              </a:solidFill>
            </a:endParaRPr>
          </a:p>
          <a:p>
            <a:pPr lvl="1" indent="-283210"/>
            <a:r>
              <a:rPr lang="en-GB" sz="1400" dirty="0">
                <a:solidFill>
                  <a:srgbClr val="0070C0"/>
                </a:solidFill>
              </a:rPr>
              <a:t>plymouth.ac.uk/student-life/your-studies/academic-services/careers-and-employability/careers-service</a:t>
            </a:r>
          </a:p>
          <a:p>
            <a:pPr lvl="1" indent="-283210"/>
            <a:r>
              <a:rPr lang="en-GB" sz="1400" dirty="0">
                <a:solidFill>
                  <a:srgbClr val="0070C0"/>
                </a:solidFill>
              </a:rPr>
              <a:t>AI and applying for jobs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202" y="2149813"/>
            <a:ext cx="4387521" cy="452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566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ed3e2e-e578-422f-a4d4-d0b91fb8dd0a" xsi:nil="true"/>
    <lcf76f155ced4ddcb4097134ff3c332f xmlns="dd16c011-74dc-4d91-907a-0e4ba4d88a4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CAA8B724B17D46B600B80737CEAFFF" ma:contentTypeVersion="12" ma:contentTypeDescription="Create a new document." ma:contentTypeScope="" ma:versionID="1b1227fda3f3225d175f63e77d8a0347">
  <xsd:schema xmlns:xsd="http://www.w3.org/2001/XMLSchema" xmlns:xs="http://www.w3.org/2001/XMLSchema" xmlns:p="http://schemas.microsoft.com/office/2006/metadata/properties" xmlns:ns2="dd16c011-74dc-4d91-907a-0e4ba4d88a4b" xmlns:ns3="cced3e2e-e578-422f-a4d4-d0b91fb8dd0a" targetNamespace="http://schemas.microsoft.com/office/2006/metadata/properties" ma:root="true" ma:fieldsID="ea201148ac15636acb94fdf986d8a59f" ns2:_="" ns3:_="">
    <xsd:import namespace="dd16c011-74dc-4d91-907a-0e4ba4d88a4b"/>
    <xsd:import namespace="cced3e2e-e578-422f-a4d4-d0b91fb8dd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16c011-74dc-4d91-907a-0e4ba4d88a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2436211-1ade-492a-a617-36d0ab6ef0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d3e2e-e578-422f-a4d4-d0b91fb8dd0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abb198c-b278-4f14-9af2-0da89035f6a2}" ma:internalName="TaxCatchAll" ma:showField="CatchAllData" ma:web="cced3e2e-e578-422f-a4d4-d0b91fb8dd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B8D141-6ECD-4F16-9892-0FD83F9F56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840C70-7380-4A6E-9852-88D46339A0DF}">
  <ds:schemaRefs>
    <ds:schemaRef ds:uri="http://schemas.microsoft.com/office/2006/metadata/properties"/>
    <ds:schemaRef ds:uri="http://schemas.microsoft.com/office/infopath/2007/PartnerControls"/>
    <ds:schemaRef ds:uri="cced3e2e-e578-422f-a4d4-d0b91fb8dd0a"/>
    <ds:schemaRef ds:uri="dd16c011-74dc-4d91-907a-0e4ba4d88a4b"/>
  </ds:schemaRefs>
</ds:datastoreItem>
</file>

<file path=customXml/itemProps3.xml><?xml version="1.0" encoding="utf-8"?>
<ds:datastoreItem xmlns:ds="http://schemas.openxmlformats.org/officeDocument/2006/customXml" ds:itemID="{161D6991-B02E-44EA-9157-A75EFDDEE5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16c011-74dc-4d91-907a-0e4ba4d88a4b"/>
    <ds:schemaRef ds:uri="cced3e2e-e578-422f-a4d4-d0b91fb8dd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2148</TotalTime>
  <Words>370</Words>
  <Application>Microsoft Office PowerPoint</Application>
  <PresentationFormat>On-screen Show (4:3)</PresentationFormat>
  <Paragraphs>84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 Boardroom</vt:lpstr>
      <vt:lpstr>Employability in our maths and data science programmes</vt:lpstr>
      <vt:lpstr>Who I am…</vt:lpstr>
      <vt:lpstr>Regular employability activities</vt:lpstr>
      <vt:lpstr>One-off events</vt:lpstr>
      <vt:lpstr>Placements</vt:lpstr>
      <vt:lpstr>Employability on our modules</vt:lpstr>
      <vt:lpstr>School Placements</vt:lpstr>
      <vt:lpstr>University’s Careers Service</vt:lpstr>
    </vt:vector>
  </TitlesOfParts>
  <Company>Plymouth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Employability skills in the maths curriculum</dc:title>
  <dc:creator>Malgorzata Wojtys</dc:creator>
  <cp:lastModifiedBy>Craig McNeile</cp:lastModifiedBy>
  <cp:revision>91</cp:revision>
  <dcterms:created xsi:type="dcterms:W3CDTF">2021-01-29T16:02:46Z</dcterms:created>
  <dcterms:modified xsi:type="dcterms:W3CDTF">2026-02-27T17:19:29Z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0x01010049CAA8B724B17D46B600B80737CEAFFF</vt:lpwstr>
  </property>
</Properties>
</file>